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86" r:id="rId4"/>
    <p:sldId id="390" r:id="rId5"/>
    <p:sldId id="391" r:id="rId6"/>
    <p:sldId id="392" r:id="rId7"/>
    <p:sldId id="393" r:id="rId8"/>
    <p:sldId id="397" r:id="rId9"/>
    <p:sldId id="398" r:id="rId10"/>
    <p:sldId id="394" r:id="rId11"/>
    <p:sldId id="395" r:id="rId12"/>
    <p:sldId id="396" r:id="rId13"/>
    <p:sldId id="399" r:id="rId14"/>
    <p:sldId id="400" r:id="rId15"/>
    <p:sldId id="385" r:id="rId16"/>
    <p:sldId id="348" r:id="rId17"/>
    <p:sldId id="349" r:id="rId18"/>
    <p:sldId id="350" r:id="rId19"/>
    <p:sldId id="351" r:id="rId20"/>
    <p:sldId id="387" r:id="rId21"/>
    <p:sldId id="388" r:id="rId22"/>
    <p:sldId id="389" r:id="rId23"/>
    <p:sldId id="367" r:id="rId24"/>
    <p:sldId id="369" r:id="rId25"/>
    <p:sldId id="370" r:id="rId26"/>
    <p:sldId id="357" r:id="rId27"/>
    <p:sldId id="358" r:id="rId28"/>
    <p:sldId id="359" r:id="rId29"/>
    <p:sldId id="360" r:id="rId30"/>
    <p:sldId id="361" r:id="rId31"/>
    <p:sldId id="362" r:id="rId32"/>
    <p:sldId id="363" r:id="rId33"/>
    <p:sldId id="364" r:id="rId34"/>
    <p:sldId id="365" r:id="rId35"/>
    <p:sldId id="366" r:id="rId36"/>
    <p:sldId id="401" r:id="rId37"/>
    <p:sldId id="402" r:id="rId38"/>
    <p:sldId id="403" r:id="rId39"/>
    <p:sldId id="404" r:id="rId40"/>
    <p:sldId id="405" r:id="rId41"/>
    <p:sldId id="406" r:id="rId42"/>
    <p:sldId id="407" r:id="rId43"/>
    <p:sldId id="408" r:id="rId44"/>
    <p:sldId id="409" r:id="rId45"/>
    <p:sldId id="410" r:id="rId46"/>
    <p:sldId id="411" r:id="rId47"/>
    <p:sldId id="412" r:id="rId48"/>
    <p:sldId id="413" r:id="rId49"/>
    <p:sldId id="414" r:id="rId50"/>
    <p:sldId id="415" r:id="rId51"/>
    <p:sldId id="416" r:id="rId52"/>
    <p:sldId id="417" r:id="rId53"/>
    <p:sldId id="418" r:id="rId54"/>
    <p:sldId id="419" r:id="rId55"/>
    <p:sldId id="420" r:id="rId56"/>
    <p:sldId id="421" r:id="rId57"/>
    <p:sldId id="422" r:id="rId58"/>
    <p:sldId id="384" r:id="rId59"/>
  </p:sldIdLst>
  <p:sldSz cx="12192000" cy="6858000"/>
  <p:notesSz cx="6858000" cy="9144000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3" Type="http://schemas.openxmlformats.org/officeDocument/2006/relationships/tags" Target="tags/tag2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w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国赛数据结构内容选</a:t>
            </a:r>
            <a:r>
              <a:rPr lang="zh-CN" altLang="en-US" dirty="0"/>
              <a:t>讲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清华大学 李欣</a:t>
            </a:r>
            <a:r>
              <a:rPr lang="zh-CN" altLang="en-US" dirty="0"/>
              <a:t>隆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交互类</a:t>
            </a:r>
            <a:r>
              <a:rPr lang="zh-CN" altLang="en-US"/>
              <a:t>题目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P10786 [NOI2024] </a:t>
            </a:r>
            <a:r>
              <a:rPr lang="zh-CN" altLang="en-US"/>
              <a:t>百万富翁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10515600" cy="3044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35830"/>
            <a:ext cx="626745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UOJ#52. </a:t>
            </a:r>
            <a:r>
              <a:rPr lang="zh-CN" altLang="en-US"/>
              <a:t>【</a:t>
            </a:r>
            <a:r>
              <a:rPr lang="en-US" altLang="zh-CN"/>
              <a:t>UR #4</a:t>
            </a:r>
            <a:r>
              <a:rPr lang="zh-CN" altLang="en-US"/>
              <a:t>】元旦激光炮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4685" y="1691005"/>
            <a:ext cx="11717655" cy="5001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P11111 [ROI 2023] </a:t>
            </a:r>
            <a:r>
              <a:rPr lang="zh-CN" altLang="en-US"/>
              <a:t>生产计划</a:t>
            </a:r>
            <a:r>
              <a:rPr lang="en-US" altLang="zh-CN"/>
              <a:t> (Day 2)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10477500" cy="4305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25625"/>
            <a:ext cx="923163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P8984 [</a:t>
            </a:r>
            <a:r>
              <a:rPr lang="zh-CN" altLang="en-US"/>
              <a:t>北大集训</a:t>
            </a:r>
            <a:r>
              <a:rPr lang="en-US" altLang="zh-CN"/>
              <a:t> 2021] </a:t>
            </a:r>
            <a:r>
              <a:rPr lang="zh-CN" altLang="en-US"/>
              <a:t>末日魔法少女计划</a:t>
            </a:r>
            <a:br>
              <a:rPr lang="zh-CN" altLang="en-US"/>
            </a:br>
            <a:r>
              <a:rPr lang="en-US" altLang="zh-CN"/>
              <a:t>P6020 [Ynoi2010] Exponential tree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9620250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P8984 [</a:t>
            </a:r>
            <a:r>
              <a:rPr lang="zh-CN" altLang="en-US">
                <a:sym typeface="+mn-ea"/>
              </a:rPr>
              <a:t>北大集训</a:t>
            </a:r>
            <a:r>
              <a:rPr lang="en-US" altLang="zh-CN">
                <a:sym typeface="+mn-ea"/>
              </a:rPr>
              <a:t> 2021] </a:t>
            </a:r>
            <a:r>
              <a:rPr lang="zh-CN" altLang="en-US">
                <a:sym typeface="+mn-ea"/>
              </a:rPr>
              <a:t>末日魔法少女计划</a:t>
            </a:r>
            <a:br>
              <a:rPr lang="zh-CN" altLang="en-US">
                <a:sym typeface="+mn-ea"/>
              </a:rPr>
            </a:br>
            <a:r>
              <a:rPr lang="en-US" altLang="zh-CN">
                <a:sym typeface="+mn-ea"/>
              </a:rPr>
              <a:t>P6020 [Ynoi2010] Exponential tree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1845" y="1691005"/>
            <a:ext cx="5029835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25625"/>
            <a:ext cx="45732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P11398 </a:t>
            </a:r>
            <a:r>
              <a:rPr lang="zh-CN" altLang="en-US"/>
              <a:t>众数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10467975" cy="3543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lang="en-US" altLang="zh-CN" sz="1600" b="1" i="0">
                <a:solidFill>
                  <a:srgbClr val="FFFFFF"/>
                </a:solidFill>
                <a:latin typeface="-apple-system"/>
                <a:ea typeface="-apple-system"/>
              </a:rPr>
              <a:t>P11398 </a:t>
            </a:r>
            <a:r>
              <a:rPr lang="zh-CN" altLang="en-US" sz="1600" b="1" i="0">
                <a:solidFill>
                  <a:srgbClr val="FFFFFF"/>
                </a:solidFill>
                <a:latin typeface="-apple-system"/>
                <a:ea typeface="-apple-system"/>
              </a:rPr>
              <a:t>众数</a:t>
            </a:r>
            <a:endParaRPr lang="zh-CN" altLang="en-US" sz="1600" b="1" i="0">
              <a:solidFill>
                <a:srgbClr val="FFFFFF"/>
              </a:solidFill>
              <a:latin typeface="-apple-system"/>
              <a:ea typeface="-apple-system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46700"/>
            <a:ext cx="8753475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凸壳性质</a:t>
            </a:r>
            <a:r>
              <a:rPr lang="zh-CN" altLang="en-US"/>
              <a:t>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P11587 [KTSC 2022 R2] </a:t>
            </a:r>
            <a:r>
              <a:rPr lang="zh-CN" altLang="en-US"/>
              <a:t>编程测试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71525" y="1456055"/>
            <a:ext cx="10515600" cy="4111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395" y="5090795"/>
            <a:ext cx="5247005" cy="17672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35275" y="55245"/>
            <a:ext cx="6555105" cy="68027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93060" y="0"/>
            <a:ext cx="8796655" cy="67583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4627245" y="0"/>
            <a:ext cx="31623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P11706 </a:t>
            </a:r>
            <a:r>
              <a:rPr lang="zh-CN" altLang="en-US"/>
              <a:t>「</a:t>
            </a:r>
            <a:r>
              <a:rPr lang="en-US" altLang="zh-CN"/>
              <a:t>KTSC 2020 R1</a:t>
            </a:r>
            <a:r>
              <a:rPr lang="zh-CN" altLang="en-US"/>
              <a:t>」穿越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0400" y="1367155"/>
            <a:ext cx="6512560" cy="5557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205" y="66675"/>
            <a:ext cx="4963795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905" y="4798060"/>
            <a:ext cx="162877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59455" y="0"/>
            <a:ext cx="6868795" cy="67957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Solution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4900930" y="0"/>
            <a:ext cx="69278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长度有上下界的区间类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P6780 [Ynoi2009] pmrllcsrms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6508750" cy="21323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23335"/>
            <a:ext cx="7561580" cy="6070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Solution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UOJ#1037. </a:t>
            </a:r>
            <a:r>
              <a:rPr lang="zh-CN" altLang="en-US"/>
              <a:t>【</a:t>
            </a:r>
            <a:r>
              <a:rPr lang="en-US" altLang="zh-CN"/>
              <a:t>UR #33</a:t>
            </a:r>
            <a:r>
              <a:rPr lang="zh-CN" altLang="en-US"/>
              <a:t>】略有变化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5520" y="1691005"/>
            <a:ext cx="10220325" cy="1428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15" y="3119755"/>
            <a:ext cx="52863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05835" y="365125"/>
            <a:ext cx="7134860" cy="59931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32580" y="0"/>
            <a:ext cx="3989070" cy="685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66920" y="0"/>
            <a:ext cx="481838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81880" y="0"/>
            <a:ext cx="445643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46600" y="88265"/>
            <a:ext cx="4818380" cy="67697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52925" y="0"/>
            <a:ext cx="514096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65040" y="0"/>
            <a:ext cx="419608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27270" y="0"/>
            <a:ext cx="39966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24985" y="467995"/>
            <a:ext cx="4645660" cy="57092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支配</a:t>
            </a:r>
            <a:r>
              <a:rPr lang="zh-CN" altLang="en-US"/>
              <a:t>集类</a:t>
            </a:r>
            <a:r>
              <a:rPr lang="zh-CN" altLang="en-US"/>
              <a:t>题目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初始有</a:t>
            </a:r>
            <a:r>
              <a:rPr lang="en-US" altLang="zh-CN"/>
              <a:t> n </a:t>
            </a:r>
            <a:r>
              <a:rPr lang="zh-CN" altLang="en-US"/>
              <a:t>个对象，两两对象之间可以产生一个</a:t>
            </a:r>
            <a:r>
              <a:rPr lang="zh-CN" altLang="en-US"/>
              <a:t>贡献</a:t>
            </a:r>
            <a:endParaRPr lang="zh-CN" altLang="en-US"/>
          </a:p>
          <a:p>
            <a:r>
              <a:rPr lang="zh-CN" altLang="en-US"/>
              <a:t>每次给一个范围，求范围内的所有对象之间两两产生</a:t>
            </a:r>
            <a:r>
              <a:rPr lang="zh-CN" altLang="en-US"/>
              <a:t>的贡献的信息</a:t>
            </a:r>
            <a:r>
              <a:rPr lang="zh-CN" altLang="en-US"/>
              <a:t>合并</a:t>
            </a:r>
            <a:endParaRPr lang="zh-CN" altLang="en-US"/>
          </a:p>
          <a:p>
            <a:r>
              <a:rPr lang="zh-CN" altLang="en-US"/>
              <a:t>如果需要对两两对象计算贡献，并且每次询问需要求出范围内的两两对象的贡献，这样需要维护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Θ(</a:t>
            </a:r>
            <a:r>
              <a:rPr lang="en-US" altLang="zh-CN"/>
              <a:t>n^2) </a:t>
            </a:r>
            <a:r>
              <a:rPr lang="zh-CN" altLang="en-US"/>
              <a:t>对贡献，即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Θ(n^2) </a:t>
            </a:r>
            <a:r>
              <a:rPr lang="zh-CN" altLang="en-US">
                <a:sym typeface="+mn-ea"/>
              </a:rPr>
              <a:t>对</a:t>
            </a:r>
            <a:r>
              <a:rPr lang="zh-CN" altLang="en-US">
                <a:sym typeface="+mn-ea"/>
              </a:rPr>
              <a:t>二元组，</a:t>
            </a:r>
            <a:r>
              <a:rPr lang="zh-CN" altLang="en-US"/>
              <a:t>复杂度</a:t>
            </a:r>
            <a:r>
              <a:rPr lang="zh-CN" altLang="en-US"/>
              <a:t>过高</a:t>
            </a:r>
            <a:endParaRPr lang="zh-CN" altLang="en-US"/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支配</a:t>
            </a:r>
            <a:r>
              <a:rPr lang="zh-CN" altLang="en-US">
                <a:sym typeface="+mn-ea"/>
              </a:rPr>
              <a:t>集</a:t>
            </a:r>
            <a:r>
              <a:rPr lang="zh-CN" altLang="en-US">
                <a:sym typeface="+mn-ea"/>
              </a:rPr>
              <a:t>类题目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但是问题经常有性质，导致可以找出</a:t>
            </a:r>
            <a:r>
              <a:rPr lang="en-US" altLang="zh-CN">
                <a:sym typeface="+mn-ea"/>
              </a:rPr>
              <a:t> Θ(nlogn) </a:t>
            </a:r>
            <a:r>
              <a:rPr lang="zh-CN" altLang="en-US">
                <a:sym typeface="+mn-ea"/>
              </a:rPr>
              <a:t>对两两对象之间的贡献，只需要查询范围内这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Θ(nlogn) </a:t>
            </a:r>
            <a:r>
              <a:rPr lang="zh-CN" altLang="en-US">
                <a:sym typeface="+mn-ea"/>
              </a:rPr>
              <a:t>对的贡献，即可覆盖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Θ(n^2) </a:t>
            </a:r>
            <a:r>
              <a:rPr lang="zh-CN" altLang="en-US">
                <a:sym typeface="+mn-ea"/>
              </a:rPr>
              <a:t>对的贡献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这个</a:t>
            </a:r>
            <a:r>
              <a:rPr lang="en-US" altLang="zh-CN">
                <a:sym typeface="+mn-ea"/>
              </a:rPr>
              <a:t> Θ(nlogn) </a:t>
            </a:r>
            <a:r>
              <a:rPr lang="zh-CN" altLang="en-US">
                <a:sym typeface="+mn-ea"/>
              </a:rPr>
              <a:t>对二元组就叫做原问题的</a:t>
            </a:r>
            <a:r>
              <a:rPr lang="en-US" altLang="zh-CN">
                <a:sym typeface="+mn-ea"/>
              </a:rPr>
              <a:t> Θ(n^2) </a:t>
            </a:r>
            <a:r>
              <a:rPr lang="zh-CN" altLang="en-US">
                <a:sym typeface="+mn-ea"/>
              </a:rPr>
              <a:t>对二元组</a:t>
            </a:r>
            <a:r>
              <a:rPr lang="zh-CN" altLang="en-US">
                <a:sym typeface="+mn-ea"/>
              </a:rPr>
              <a:t>的一个支配集</a:t>
            </a:r>
            <a:endParaRPr lang="zh-CN" altLang="en-US">
              <a:sym typeface="+mn-ea"/>
            </a:endParaRPr>
          </a:p>
          <a:p>
            <a:r>
              <a:rPr lang="zh-CN" altLang="en-US"/>
              <a:t>找出支配集后一般问题会变成</a:t>
            </a:r>
            <a:r>
              <a:rPr lang="zh-CN" altLang="en-US"/>
              <a:t>几种平凡形式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CF765F Souvenirs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给一个长为</a:t>
            </a:r>
            <a:r>
              <a:rPr lang="en-US" altLang="zh-CN" dirty="0"/>
              <a:t>n</a:t>
            </a:r>
            <a:r>
              <a:rPr lang="zh-CN" altLang="en-US" dirty="0"/>
              <a:t>的序列，有</a:t>
            </a:r>
            <a:r>
              <a:rPr lang="en-US" altLang="zh-CN" dirty="0"/>
              <a:t>m</a:t>
            </a:r>
            <a:r>
              <a:rPr lang="zh-CN" altLang="en-US" dirty="0"/>
              <a:t>次查询，每次查询区间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中最小的</a:t>
            </a:r>
            <a:r>
              <a:rPr lang="en-US" altLang="zh-CN" dirty="0"/>
              <a:t>|a[</a:t>
            </a:r>
            <a:r>
              <a:rPr lang="en-US" altLang="zh-CN" dirty="0" err="1"/>
              <a:t>i</a:t>
            </a:r>
            <a:r>
              <a:rPr lang="en-US" altLang="zh-CN" dirty="0"/>
              <a:t>]-a[j]|</a:t>
            </a:r>
            <a:r>
              <a:rPr lang="zh-CN" altLang="en-US" dirty="0"/>
              <a:t>满足</a:t>
            </a:r>
            <a:r>
              <a:rPr lang="en-US" altLang="zh-CN" dirty="0"/>
              <a:t>l&lt;=</a:t>
            </a:r>
            <a:r>
              <a:rPr lang="en-US" altLang="zh-CN" dirty="0" err="1"/>
              <a:t>i,j</a:t>
            </a:r>
            <a:r>
              <a:rPr lang="en-US" altLang="zh-CN" dirty="0"/>
              <a:t>&lt;=r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</a:t>
            </a:r>
            <a:r>
              <a:rPr lang="en-US" altLang="zh-CN" dirty="0" err="1"/>
              <a:t>i</a:t>
            </a:r>
            <a:r>
              <a:rPr lang="zh-CN" altLang="en-US" dirty="0"/>
              <a:t>位置和哪些位置</a:t>
            </a:r>
            <a:r>
              <a:rPr lang="en-US" altLang="zh-CN" dirty="0"/>
              <a:t>j</a:t>
            </a:r>
            <a:r>
              <a:rPr lang="zh-CN" altLang="en-US" dirty="0"/>
              <a:t>能形成有意义的二元组</a:t>
            </a:r>
            <a:endParaRPr lang="en-US" altLang="zh-CN" dirty="0"/>
          </a:p>
          <a:p>
            <a:r>
              <a:rPr lang="zh-CN" altLang="en-US" dirty="0"/>
              <a:t>有意义的二元组即对答案有影响的</a:t>
            </a:r>
            <a:r>
              <a:rPr lang="en-US" altLang="zh-CN" dirty="0"/>
              <a:t>(</a:t>
            </a:r>
            <a:r>
              <a:rPr lang="en-US" altLang="zh-CN" dirty="0" err="1"/>
              <a:t>i,j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/>
              <a:t>ai&lt;</a:t>
            </a:r>
            <a:r>
              <a:rPr lang="en-US" altLang="zh-CN" dirty="0" err="1"/>
              <a:t>aj</a:t>
            </a:r>
            <a:r>
              <a:rPr lang="en-US" altLang="zh-CN" dirty="0"/>
              <a:t>&lt;</a:t>
            </a:r>
            <a:r>
              <a:rPr lang="en-US" altLang="zh-CN" dirty="0" err="1"/>
              <a:t>ak</a:t>
            </a:r>
            <a:r>
              <a:rPr lang="zh-CN" altLang="en-US" dirty="0"/>
              <a:t>，则</a:t>
            </a:r>
            <a:r>
              <a:rPr lang="en-US" altLang="zh-CN" dirty="0"/>
              <a:t>(</a:t>
            </a:r>
            <a:r>
              <a:rPr lang="en-US" altLang="zh-CN" dirty="0" err="1"/>
              <a:t>i,k</a:t>
            </a:r>
            <a:r>
              <a:rPr lang="en-US" altLang="zh-CN" dirty="0"/>
              <a:t>)</a:t>
            </a:r>
            <a:r>
              <a:rPr lang="zh-CN" altLang="en-US" dirty="0"/>
              <a:t>的意义被</a:t>
            </a:r>
            <a:r>
              <a:rPr lang="en-US" altLang="zh-CN" dirty="0"/>
              <a:t>(</a:t>
            </a:r>
            <a:r>
              <a:rPr lang="en-US" altLang="zh-CN" dirty="0" err="1"/>
              <a:t>i,j</a:t>
            </a:r>
            <a:r>
              <a:rPr lang="en-US" altLang="zh-CN" dirty="0"/>
              <a:t>)</a:t>
            </a:r>
            <a:r>
              <a:rPr lang="zh-CN" altLang="en-US" dirty="0"/>
              <a:t>掩盖</a:t>
            </a:r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考虑</a:t>
            </a:r>
            <a:r>
              <a:rPr lang="en-US" altLang="zh-CN" dirty="0"/>
              <a:t>ai&lt;</a:t>
            </a:r>
            <a:r>
              <a:rPr lang="en-US" altLang="zh-CN" dirty="0" err="1"/>
              <a:t>aj,aj</a:t>
            </a:r>
            <a:r>
              <a:rPr lang="en-US" altLang="zh-CN" dirty="0"/>
              <a:t>&gt;</a:t>
            </a:r>
            <a:r>
              <a:rPr lang="en-US" altLang="zh-CN" dirty="0" err="1"/>
              <a:t>ak</a:t>
            </a:r>
            <a:endParaRPr lang="en-US" altLang="zh-CN" dirty="0"/>
          </a:p>
          <a:p>
            <a:r>
              <a:rPr lang="en-US" altLang="zh-CN" dirty="0"/>
              <a:t>1.ai&gt;</a:t>
            </a:r>
            <a:r>
              <a:rPr lang="en-US" altLang="zh-CN" dirty="0" err="1"/>
              <a:t>ak</a:t>
            </a:r>
            <a:endParaRPr lang="zh-CN" altLang="en-US" dirty="0"/>
          </a:p>
          <a:p>
            <a:r>
              <a:rPr lang="zh-CN" altLang="en-US" dirty="0"/>
              <a:t>则</a:t>
            </a:r>
            <a:r>
              <a:rPr lang="en-US" altLang="zh-CN" dirty="0"/>
              <a:t>|</a:t>
            </a:r>
            <a:r>
              <a:rPr lang="en-US" altLang="zh-CN" dirty="0" err="1"/>
              <a:t>aj-ak</a:t>
            </a:r>
            <a:r>
              <a:rPr lang="en-US" altLang="zh-CN" dirty="0"/>
              <a:t>|&gt;|ai-</a:t>
            </a:r>
            <a:r>
              <a:rPr lang="en-US" altLang="zh-CN" dirty="0" err="1"/>
              <a:t>ak</a:t>
            </a:r>
            <a:r>
              <a:rPr lang="en-US" altLang="zh-CN" dirty="0"/>
              <a:t>|</a:t>
            </a:r>
            <a:r>
              <a:rPr lang="zh-CN" altLang="en-US" dirty="0"/>
              <a:t>，这里有</a:t>
            </a:r>
            <a:r>
              <a:rPr lang="en-US" altLang="zh-CN" dirty="0"/>
              <a:t>|ai-</a:t>
            </a:r>
            <a:r>
              <a:rPr lang="en-US" altLang="zh-CN" dirty="0" err="1"/>
              <a:t>ak</a:t>
            </a:r>
            <a:r>
              <a:rPr lang="en-US" altLang="zh-CN" dirty="0"/>
              <a:t>|&lt;1/2|ai-aj|</a:t>
            </a:r>
            <a:r>
              <a:rPr lang="zh-CN" altLang="en-US" dirty="0"/>
              <a:t>，出现了值域减半</a:t>
            </a:r>
            <a:endParaRPr lang="en-US" altLang="zh-CN" dirty="0"/>
          </a:p>
          <a:p>
            <a:r>
              <a:rPr lang="en-US" altLang="zh-CN" dirty="0"/>
              <a:t>2.ai&lt;</a:t>
            </a:r>
            <a:r>
              <a:rPr lang="en-US" altLang="zh-CN" dirty="0" err="1"/>
              <a:t>ak</a:t>
            </a:r>
            <a:endParaRPr lang="en-US" altLang="zh-CN" dirty="0"/>
          </a:p>
          <a:p>
            <a:r>
              <a:rPr lang="zh-CN" altLang="en-US" dirty="0"/>
              <a:t>则</a:t>
            </a:r>
            <a:r>
              <a:rPr lang="en-US" altLang="zh-CN" dirty="0"/>
              <a:t>|ai-</a:t>
            </a:r>
            <a:r>
              <a:rPr lang="en-US" altLang="zh-CN" dirty="0" err="1"/>
              <a:t>aj</a:t>
            </a:r>
            <a:r>
              <a:rPr lang="en-US" altLang="zh-CN" dirty="0"/>
              <a:t>|&gt;|ai-</a:t>
            </a:r>
            <a:r>
              <a:rPr lang="en-US" altLang="zh-CN" dirty="0" err="1"/>
              <a:t>ak</a:t>
            </a:r>
            <a:r>
              <a:rPr lang="en-US" altLang="zh-CN" dirty="0"/>
              <a:t>|</a:t>
            </a:r>
            <a:r>
              <a:rPr lang="zh-CN" altLang="en-US" dirty="0"/>
              <a:t>，这里限制了一个下界，之后再出现</a:t>
            </a:r>
            <a:r>
              <a:rPr lang="en-US" altLang="zh-CN" dirty="0"/>
              <a:t>ai&lt;</a:t>
            </a:r>
            <a:r>
              <a:rPr lang="en-US" altLang="zh-CN" dirty="0" err="1"/>
              <a:t>ak</a:t>
            </a:r>
            <a:r>
              <a:rPr lang="en-US" altLang="zh-CN" dirty="0"/>
              <a:t>’</a:t>
            </a:r>
            <a:r>
              <a:rPr lang="zh-CN" altLang="en-US" dirty="0"/>
              <a:t>的情况可以类比</a:t>
            </a:r>
            <a:r>
              <a:rPr lang="en-US" altLang="zh-CN" dirty="0"/>
              <a:t>1</a:t>
            </a:r>
            <a:r>
              <a:rPr lang="zh-CN" altLang="en-US" dirty="0"/>
              <a:t>了</a:t>
            </a:r>
            <a:endParaRPr lang="en-US" altLang="zh-CN" dirty="0"/>
          </a:p>
          <a:p>
            <a:r>
              <a:rPr lang="zh-CN" altLang="en-US" dirty="0"/>
              <a:t>总的有贡献的二元组为</a:t>
            </a:r>
            <a:r>
              <a:rPr lang="en-US" altLang="zh-CN" dirty="0"/>
              <a:t>O(</a:t>
            </a:r>
            <a:r>
              <a:rPr lang="en-US" altLang="zh-CN" dirty="0" err="1"/>
              <a:t>nlogv</a:t>
            </a:r>
            <a:r>
              <a:rPr lang="en-US" altLang="zh-CN" dirty="0"/>
              <a:t>)</a:t>
            </a:r>
            <a:r>
              <a:rPr lang="zh-CN" altLang="en-US" dirty="0"/>
              <a:t>个</a:t>
            </a:r>
            <a:endParaRPr lang="en-US" altLang="zh-CN" dirty="0"/>
          </a:p>
          <a:p>
            <a:r>
              <a:rPr lang="zh-CN" altLang="en-US" dirty="0"/>
              <a:t>可以用可持久化值域线段树或者其他方法</a:t>
            </a:r>
            <a:r>
              <a:rPr lang="en-US" altLang="zh-CN" dirty="0"/>
              <a:t>O(</a:t>
            </a:r>
            <a:r>
              <a:rPr lang="en-US" altLang="zh-CN" dirty="0" err="1"/>
              <a:t>nlognlogv</a:t>
            </a:r>
            <a:r>
              <a:rPr lang="en-US" altLang="zh-CN" dirty="0"/>
              <a:t>)</a:t>
            </a:r>
            <a:r>
              <a:rPr lang="zh-CN" altLang="en-US" dirty="0"/>
              <a:t>找出有意义的二元组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将询问看做二维平面上的点</a:t>
            </a:r>
            <a:endParaRPr lang="en-US" altLang="zh-CN" dirty="0"/>
          </a:p>
          <a:p>
            <a:r>
              <a:rPr lang="zh-CN" altLang="en-US" dirty="0"/>
              <a:t>每个</a:t>
            </a:r>
            <a:r>
              <a:rPr lang="en-US" altLang="zh-CN" dirty="0"/>
              <a:t>(a[</a:t>
            </a:r>
            <a:r>
              <a:rPr lang="en-US" altLang="zh-CN" dirty="0" err="1"/>
              <a:t>i</a:t>
            </a:r>
            <a:r>
              <a:rPr lang="en-US" altLang="zh-CN" dirty="0"/>
              <a:t>],a[j])</a:t>
            </a:r>
            <a:r>
              <a:rPr lang="zh-CN" altLang="en-US" dirty="0"/>
              <a:t>的</a:t>
            </a:r>
            <a:r>
              <a:rPr lang="en-US" altLang="zh-CN" dirty="0"/>
              <a:t>pair</a:t>
            </a:r>
            <a:r>
              <a:rPr lang="zh-CN" altLang="en-US" dirty="0"/>
              <a:t>即对所有</a:t>
            </a:r>
            <a:r>
              <a:rPr lang="en-US" altLang="zh-CN" dirty="0"/>
              <a:t>l</a:t>
            </a:r>
            <a:r>
              <a:rPr lang="zh-CN" altLang="en-US" dirty="0"/>
              <a:t>在</a:t>
            </a:r>
            <a:r>
              <a:rPr lang="en-US" altLang="zh-CN" dirty="0"/>
              <a:t>[1,i]</a:t>
            </a:r>
            <a:r>
              <a:rPr lang="zh-CN" altLang="en-US" dirty="0"/>
              <a:t>中，</a:t>
            </a:r>
            <a:r>
              <a:rPr lang="en-US" altLang="zh-CN" dirty="0"/>
              <a:t>r</a:t>
            </a:r>
            <a:r>
              <a:rPr lang="zh-CN" altLang="en-US" dirty="0"/>
              <a:t>在</a:t>
            </a:r>
            <a:r>
              <a:rPr lang="en-US" altLang="zh-CN" dirty="0"/>
              <a:t>[</a:t>
            </a:r>
            <a:r>
              <a:rPr lang="en-US" altLang="zh-CN" dirty="0" err="1"/>
              <a:t>j,n</a:t>
            </a:r>
            <a:r>
              <a:rPr lang="en-US" altLang="zh-CN" dirty="0"/>
              <a:t>]</a:t>
            </a:r>
            <a:r>
              <a:rPr lang="zh-CN" altLang="en-US" dirty="0"/>
              <a:t>中的询问，其答案对</a:t>
            </a:r>
            <a:r>
              <a:rPr lang="en-US" altLang="zh-CN" dirty="0"/>
              <a:t>|a[</a:t>
            </a:r>
            <a:r>
              <a:rPr lang="en-US" altLang="zh-CN" dirty="0" err="1"/>
              <a:t>i</a:t>
            </a:r>
            <a:r>
              <a:rPr lang="en-US" altLang="zh-CN" dirty="0"/>
              <a:t>]-a[j]|</a:t>
            </a:r>
            <a:r>
              <a:rPr lang="zh-CN" altLang="en-US" dirty="0"/>
              <a:t>取</a:t>
            </a:r>
            <a:r>
              <a:rPr lang="en-US" altLang="zh-CN" dirty="0"/>
              <a:t>max</a:t>
            </a:r>
            <a:endParaRPr lang="en-US" altLang="zh-CN" dirty="0"/>
          </a:p>
          <a:p>
            <a:r>
              <a:rPr lang="zh-CN" altLang="en-US" dirty="0"/>
              <a:t>注意到这里的矩形是</a:t>
            </a:r>
            <a:r>
              <a:rPr lang="en-US" altLang="zh-CN" dirty="0"/>
              <a:t>2-side</a:t>
            </a:r>
            <a:r>
              <a:rPr lang="zh-CN" altLang="en-US" dirty="0"/>
              <a:t>的，我们选择合适的方向扫描线，就只会插入不会删除了</a:t>
            </a:r>
            <a:endParaRPr lang="en-US" altLang="zh-CN" dirty="0"/>
          </a:p>
          <a:p>
            <a:r>
              <a:rPr lang="zh-CN" altLang="en-US" dirty="0"/>
              <a:t>问题变为区间对</a:t>
            </a:r>
            <a:r>
              <a:rPr lang="en-US" altLang="zh-CN" dirty="0"/>
              <a:t>x</a:t>
            </a:r>
            <a:r>
              <a:rPr lang="zh-CN" altLang="en-US" dirty="0"/>
              <a:t>取</a:t>
            </a:r>
            <a:r>
              <a:rPr lang="en-US" altLang="zh-CN" dirty="0"/>
              <a:t>max</a:t>
            </a:r>
            <a:r>
              <a:rPr lang="zh-CN" altLang="en-US" dirty="0"/>
              <a:t>，单点值</a:t>
            </a:r>
            <a:endParaRPr lang="en-US" altLang="zh-CN" dirty="0"/>
          </a:p>
          <a:p>
            <a:r>
              <a:rPr lang="zh-CN" altLang="en-US" dirty="0"/>
              <a:t>扫描线</a:t>
            </a:r>
            <a:r>
              <a:rPr lang="en-US" altLang="zh-CN" dirty="0"/>
              <a:t>+</a:t>
            </a:r>
            <a:r>
              <a:rPr lang="zh-CN" altLang="en-US" dirty="0"/>
              <a:t>线段树，总时间复杂度</a:t>
            </a:r>
            <a:r>
              <a:rPr lang="en-US" altLang="zh-CN" dirty="0"/>
              <a:t>O(</a:t>
            </a:r>
            <a:r>
              <a:rPr lang="en-US" altLang="zh-CN" dirty="0" err="1"/>
              <a:t>nlognlogv+mlogn</a:t>
            </a:r>
            <a:r>
              <a:rPr lang="en-US" altLang="zh-CN" dirty="0"/>
              <a:t>)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CodeChef </a:t>
            </a:r>
            <a:r>
              <a:rPr lang="zh-CN" altLang="en-US"/>
              <a:t>MINXORSEG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给一个长</a:t>
            </a:r>
            <a:r>
              <a:rPr lang="en-US" altLang="zh-CN"/>
              <a:t>n</a:t>
            </a:r>
            <a:r>
              <a:rPr lang="zh-CN" altLang="en-US"/>
              <a:t>的序列，有</a:t>
            </a:r>
            <a:r>
              <a:rPr lang="en-US" altLang="zh-CN"/>
              <a:t>m</a:t>
            </a:r>
            <a:r>
              <a:rPr lang="zh-CN" altLang="en-US"/>
              <a:t>次</a:t>
            </a:r>
            <a:r>
              <a:rPr lang="zh-CN" altLang="en-US"/>
              <a:t>询问</a:t>
            </a:r>
            <a:endParaRPr lang="zh-CN" altLang="en-US"/>
          </a:p>
          <a:p>
            <a:r>
              <a:rPr lang="zh-CN" altLang="en-US"/>
              <a:t>每次求区间</a:t>
            </a:r>
            <a:r>
              <a:rPr lang="en-US" altLang="zh-CN"/>
              <a:t> [l,r] </a:t>
            </a:r>
            <a:r>
              <a:rPr lang="zh-CN" altLang="en-US"/>
              <a:t>中最小的</a:t>
            </a:r>
            <a:r>
              <a:rPr lang="en-US" altLang="zh-CN"/>
              <a:t> a[i]^a[j]</a:t>
            </a:r>
            <a:r>
              <a:rPr lang="zh-CN" altLang="en-US"/>
              <a:t>，满足</a:t>
            </a:r>
            <a:r>
              <a:rPr lang="en-US" altLang="zh-CN"/>
              <a:t> l&lt;=i&lt;j&lt;=r</a:t>
            </a:r>
            <a:endParaRPr lang="en-US" altLang="zh-CN"/>
          </a:p>
          <a:p>
            <a:r>
              <a:rPr lang="en-US" altLang="zh-CN"/>
              <a:t>n,m=2e5,a[i]&lt;=1e9</a:t>
            </a:r>
            <a:endParaRPr lang="en-US" altLang="zh-C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用每个</a:t>
            </a:r>
            <a:r>
              <a:rPr lang="en-US" altLang="zh-CN"/>
              <a:t> i </a:t>
            </a:r>
            <a:r>
              <a:rPr lang="zh-CN" altLang="en-US"/>
              <a:t>只有</a:t>
            </a:r>
            <a:r>
              <a:rPr lang="en-US" altLang="zh-CN"/>
              <a:t> O(logn) </a:t>
            </a:r>
            <a:r>
              <a:rPr lang="zh-CN" altLang="en-US"/>
              <a:t>个</a:t>
            </a:r>
            <a:r>
              <a:rPr lang="en-US" altLang="zh-CN"/>
              <a:t> j </a:t>
            </a:r>
            <a:r>
              <a:rPr lang="zh-CN" altLang="en-US"/>
              <a:t>使得</a:t>
            </a:r>
            <a:r>
              <a:rPr lang="en-US" altLang="zh-CN"/>
              <a:t> (i,j) </a:t>
            </a:r>
            <a:r>
              <a:rPr lang="zh-CN" altLang="en-US"/>
              <a:t>有贡献的支配对</a:t>
            </a:r>
            <a:r>
              <a:rPr lang="zh-CN" altLang="en-US"/>
              <a:t>套路</a:t>
            </a:r>
            <a:endParaRPr lang="zh-CN" altLang="en-US"/>
          </a:p>
          <a:p>
            <a:r>
              <a:rPr lang="zh-CN" altLang="en-US"/>
              <a:t>假设有三个位置</a:t>
            </a:r>
            <a:r>
              <a:rPr lang="en-US" altLang="zh-CN"/>
              <a:t> i,j,k</a:t>
            </a:r>
            <a:r>
              <a:rPr lang="zh-CN" altLang="en-US"/>
              <a:t>，满足</a:t>
            </a:r>
            <a:r>
              <a:rPr lang="en-US" altLang="zh-CN"/>
              <a:t> i&lt;j&lt;k</a:t>
            </a:r>
            <a:endParaRPr lang="en-US" altLang="zh-CN"/>
          </a:p>
          <a:p>
            <a:r>
              <a:rPr lang="zh-CN" altLang="en-US"/>
              <a:t>则</a:t>
            </a:r>
            <a:r>
              <a:rPr lang="en-US" altLang="zh-CN"/>
              <a:t> (i,k) </a:t>
            </a:r>
            <a:r>
              <a:rPr lang="zh-CN" altLang="en-US"/>
              <a:t>的贡献不被</a:t>
            </a:r>
            <a:r>
              <a:rPr lang="en-US" altLang="zh-CN"/>
              <a:t> (i,j) </a:t>
            </a:r>
            <a:r>
              <a:rPr lang="zh-CN" altLang="en-US"/>
              <a:t>的贡献支配掉，仅当</a:t>
            </a:r>
            <a:r>
              <a:rPr lang="en-US" altLang="zh-CN"/>
              <a:t> a[i]^a[k]&lt;a[i]^a[j]</a:t>
            </a:r>
            <a:endParaRPr lang="en-US" altLang="zh-CN"/>
          </a:p>
          <a:p>
            <a:r>
              <a:rPr lang="zh-CN" altLang="en-US"/>
              <a:t>同时为了不被</a:t>
            </a:r>
            <a:r>
              <a:rPr lang="en-US" altLang="zh-CN"/>
              <a:t> (j,k) </a:t>
            </a:r>
            <a:r>
              <a:rPr lang="zh-CN" altLang="en-US"/>
              <a:t>的贡献支配掉，</a:t>
            </a:r>
            <a:r>
              <a:rPr lang="en-US" altLang="zh-CN">
                <a:sym typeface="+mn-ea"/>
              </a:rPr>
              <a:t>a[i]^a[k]&lt;a[j]^a[</a:t>
            </a:r>
            <a:r>
              <a:rPr lang="en-US" altLang="zh-CN">
                <a:sym typeface="+mn-ea"/>
              </a:rPr>
              <a:t>k]</a:t>
            </a:r>
            <a:endParaRPr lang="en-US" altLang="zh-CN"/>
          </a:p>
          <a:p>
            <a:r>
              <a:rPr lang="zh-CN" altLang="en-US"/>
              <a:t>考虑</a:t>
            </a:r>
            <a:r>
              <a:rPr lang="en-US" altLang="zh-CN"/>
              <a:t> a[i],a[j],a[k] </a:t>
            </a:r>
            <a:r>
              <a:rPr lang="zh-CN" altLang="en-US"/>
              <a:t>二进制表示下的</a:t>
            </a:r>
            <a:r>
              <a:rPr lang="en-US" altLang="zh-CN"/>
              <a:t> LCP</a:t>
            </a:r>
            <a:r>
              <a:rPr lang="zh-CN" altLang="en-US"/>
              <a:t>，以及下一个字符</a:t>
            </a:r>
            <a:r>
              <a:rPr lang="en-US" altLang="zh-CN"/>
              <a:t> 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Solution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a[i] </a:t>
            </a:r>
            <a:r>
              <a:rPr lang="zh-CN" altLang="en-US"/>
              <a:t>和</a:t>
            </a:r>
            <a:r>
              <a:rPr lang="en-US" altLang="zh-CN"/>
              <a:t> a[j] </a:t>
            </a:r>
            <a:r>
              <a:rPr lang="zh-CN" altLang="en-US"/>
              <a:t>在</a:t>
            </a:r>
            <a:r>
              <a:rPr lang="en-US" altLang="zh-CN"/>
              <a:t> LCP </a:t>
            </a:r>
            <a:r>
              <a:rPr lang="zh-CN" altLang="en-US"/>
              <a:t>后的一个字符一定是不同</a:t>
            </a:r>
            <a:r>
              <a:rPr lang="zh-CN" altLang="en-US"/>
              <a:t>的</a:t>
            </a:r>
            <a:endParaRPr lang="zh-CN" altLang="en-US"/>
          </a:p>
          <a:p>
            <a:r>
              <a:rPr lang="zh-CN" altLang="en-US"/>
              <a:t>假设</a:t>
            </a:r>
            <a:r>
              <a:rPr lang="en-US" altLang="zh-CN"/>
              <a:t> a[i] </a:t>
            </a:r>
            <a:r>
              <a:rPr lang="zh-CN" altLang="en-US"/>
              <a:t>这一位是</a:t>
            </a:r>
            <a:r>
              <a:rPr lang="en-US" altLang="zh-CN"/>
              <a:t> 0</a:t>
            </a:r>
            <a:r>
              <a:rPr lang="zh-CN" altLang="en-US"/>
              <a:t>，</a:t>
            </a:r>
            <a:r>
              <a:rPr lang="en-US" altLang="zh-CN"/>
              <a:t>a[j] </a:t>
            </a:r>
            <a:r>
              <a:rPr lang="zh-CN" altLang="en-US"/>
              <a:t>这一位是</a:t>
            </a:r>
            <a:r>
              <a:rPr lang="en-US" altLang="zh-CN"/>
              <a:t> 1</a:t>
            </a:r>
            <a:r>
              <a:rPr lang="zh-CN" altLang="en-US"/>
              <a:t>，则</a:t>
            </a:r>
            <a:r>
              <a:rPr lang="en-US" altLang="zh-CN"/>
              <a:t> a[k] </a:t>
            </a:r>
            <a:r>
              <a:rPr lang="zh-CN" altLang="en-US"/>
              <a:t>这一位一定是</a:t>
            </a:r>
            <a:r>
              <a:rPr lang="en-US" altLang="zh-CN"/>
              <a:t> 0</a:t>
            </a:r>
            <a:r>
              <a:rPr lang="zh-CN" altLang="en-US"/>
              <a:t>，不然</a:t>
            </a:r>
            <a:r>
              <a:rPr lang="en-US" altLang="zh-CN"/>
              <a:t> a[j]^a[k]&lt;a[i]^a[k]</a:t>
            </a:r>
            <a:r>
              <a:rPr lang="zh-CN" altLang="en-US"/>
              <a:t>，导致</a:t>
            </a:r>
            <a:r>
              <a:rPr lang="en-US" altLang="zh-CN"/>
              <a:t> (i,k) </a:t>
            </a:r>
            <a:r>
              <a:rPr lang="zh-CN" altLang="en-US"/>
              <a:t>的贡献被</a:t>
            </a:r>
            <a:r>
              <a:rPr lang="en-US" altLang="zh-CN"/>
              <a:t> (j,k) </a:t>
            </a:r>
            <a:r>
              <a:rPr lang="zh-CN" altLang="en-US"/>
              <a:t>的贡献</a:t>
            </a:r>
            <a:r>
              <a:rPr lang="zh-CN" altLang="en-US"/>
              <a:t>支配</a:t>
            </a:r>
            <a:endParaRPr lang="zh-CN" altLang="en-US"/>
          </a:p>
          <a:p>
            <a:r>
              <a:rPr lang="zh-CN" altLang="en-US"/>
              <a:t>同理</a:t>
            </a:r>
            <a:r>
              <a:rPr lang="en-US" altLang="zh-CN"/>
              <a:t> a[i] </a:t>
            </a:r>
            <a:r>
              <a:rPr lang="zh-CN" altLang="en-US"/>
              <a:t>这一位是</a:t>
            </a:r>
            <a:r>
              <a:rPr lang="en-US" altLang="zh-CN"/>
              <a:t> 1</a:t>
            </a:r>
            <a:r>
              <a:rPr lang="zh-CN" altLang="en-US"/>
              <a:t>，</a:t>
            </a:r>
            <a:r>
              <a:rPr lang="en-US" altLang="zh-CN"/>
              <a:t>a[j] </a:t>
            </a:r>
            <a:r>
              <a:rPr lang="zh-CN" altLang="en-US"/>
              <a:t>这一位是</a:t>
            </a:r>
            <a:r>
              <a:rPr lang="en-US" altLang="zh-CN"/>
              <a:t> 0</a:t>
            </a:r>
            <a:r>
              <a:rPr lang="zh-CN" altLang="en-US"/>
              <a:t>，则</a:t>
            </a:r>
            <a:r>
              <a:rPr lang="en-US" altLang="zh-CN"/>
              <a:t> a[k] </a:t>
            </a:r>
            <a:r>
              <a:rPr lang="zh-CN" altLang="en-US"/>
              <a:t>这一位一定是</a:t>
            </a:r>
            <a:r>
              <a:rPr lang="en-US" altLang="zh-CN"/>
              <a:t> 1</a:t>
            </a:r>
            <a:endParaRPr lang="en-US" altLang="zh-CN"/>
          </a:p>
          <a:p>
            <a:r>
              <a:rPr lang="zh-CN" altLang="en-US"/>
              <a:t>并且满足</a:t>
            </a:r>
            <a:r>
              <a:rPr lang="zh-CN" altLang="en-US"/>
              <a:t>上述条件的</a:t>
            </a:r>
            <a:r>
              <a:rPr lang="en-US" altLang="zh-CN"/>
              <a:t> k </a:t>
            </a:r>
            <a:r>
              <a:rPr lang="zh-CN" altLang="en-US"/>
              <a:t>一定可以让</a:t>
            </a:r>
            <a:r>
              <a:rPr lang="en-US" altLang="zh-CN"/>
              <a:t> (i,k) </a:t>
            </a:r>
            <a:r>
              <a:rPr lang="zh-CN" altLang="en-US"/>
              <a:t>的贡献无法被</a:t>
            </a:r>
            <a:r>
              <a:rPr lang="zh-CN" altLang="en-US"/>
              <a:t>支配</a:t>
            </a:r>
            <a:endParaRPr lang="zh-CN" altLang="en-US"/>
          </a:p>
        </p:txBody>
      </p:sp>
      <p:graphicFrame>
        <p:nvGraphicFramePr>
          <p:cNvPr id="6" name="对象 5"/>
          <p:cNvGraphicFramePr/>
          <p:nvPr>
            <p:custDataLst>
              <p:tags r:id="rId1"/>
            </p:custDataLst>
          </p:nvPr>
        </p:nvGraphicFramePr>
        <p:xfrm>
          <a:off x="960120" y="4177030"/>
          <a:ext cx="6426835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9258300" imgH="3644900" progId="Paint.Picture">
                  <p:embed/>
                </p:oleObj>
              </mc:Choice>
              <mc:Fallback>
                <p:oleObj name="" r:id="rId2" imgW="9258300" imgH="36449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0120" y="4177030"/>
                        <a:ext cx="6426835" cy="2530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Solution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每次找到新的</a:t>
            </a:r>
            <a:r>
              <a:rPr lang="en-US" altLang="zh-CN"/>
              <a:t> (i,k) </a:t>
            </a:r>
            <a:r>
              <a:rPr lang="zh-CN" altLang="en-US"/>
              <a:t>后，</a:t>
            </a:r>
            <a:r>
              <a:rPr lang="en-US" altLang="zh-CN"/>
              <a:t>a[i] </a:t>
            </a:r>
            <a:r>
              <a:rPr lang="zh-CN" altLang="en-US"/>
              <a:t>和</a:t>
            </a:r>
            <a:r>
              <a:rPr lang="en-US" altLang="zh-CN"/>
              <a:t> a[j] </a:t>
            </a:r>
            <a:r>
              <a:rPr lang="zh-CN" altLang="en-US"/>
              <a:t>在二进制表示下的</a:t>
            </a:r>
            <a:r>
              <a:rPr lang="en-US" altLang="zh-CN"/>
              <a:t> LCP </a:t>
            </a:r>
            <a:r>
              <a:rPr lang="zh-CN" altLang="en-US"/>
              <a:t>长度至少会</a:t>
            </a:r>
            <a:r>
              <a:rPr lang="en-US" altLang="zh-CN"/>
              <a:t>+1</a:t>
            </a:r>
            <a:endParaRPr lang="en-US" altLang="zh-CN"/>
          </a:p>
          <a:p>
            <a:r>
              <a:rPr lang="zh-CN" altLang="en-US"/>
              <a:t>于是对每个</a:t>
            </a:r>
            <a:r>
              <a:rPr lang="en-US" altLang="zh-CN"/>
              <a:t> i</a:t>
            </a:r>
            <a:r>
              <a:rPr lang="zh-CN" altLang="en-US"/>
              <a:t>，找到</a:t>
            </a:r>
            <a:r>
              <a:rPr lang="en-US" altLang="zh-CN"/>
              <a:t> O(logv) </a:t>
            </a:r>
            <a:r>
              <a:rPr lang="zh-CN" altLang="en-US"/>
              <a:t>个</a:t>
            </a:r>
            <a:r>
              <a:rPr lang="en-US" altLang="zh-CN"/>
              <a:t> j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这些</a:t>
            </a:r>
            <a:r>
              <a:rPr lang="en-US" altLang="zh-CN">
                <a:sym typeface="+mn-ea"/>
              </a:rPr>
              <a:t> (i,j) </a:t>
            </a:r>
            <a:r>
              <a:rPr lang="zh-CN" altLang="en-US">
                <a:sym typeface="+mn-ea"/>
              </a:rPr>
              <a:t>的贡献支配了所有</a:t>
            </a:r>
            <a:r>
              <a:rPr lang="en-US" altLang="zh-CN">
                <a:sym typeface="+mn-ea"/>
              </a:rPr>
              <a:t> (i,</a:t>
            </a:r>
            <a:r>
              <a:rPr lang="en-US" altLang="zh-CN">
                <a:sym typeface="+mn-ea"/>
              </a:rPr>
              <a:t>i+1),(i,i+2),...(i,n) </a:t>
            </a:r>
            <a:r>
              <a:rPr lang="zh-CN" altLang="en-US">
                <a:sym typeface="+mn-ea"/>
              </a:rPr>
              <a:t>的贡献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每次是要找区间</a:t>
            </a:r>
            <a:r>
              <a:rPr lang="en-US" altLang="zh-CN">
                <a:sym typeface="+mn-ea"/>
              </a:rPr>
              <a:t> [l,r] </a:t>
            </a:r>
            <a:r>
              <a:rPr lang="zh-CN" altLang="en-US">
                <a:sym typeface="+mn-ea"/>
              </a:rPr>
              <a:t>中，最小的</a:t>
            </a:r>
            <a:r>
              <a:rPr lang="en-US" altLang="zh-CN">
                <a:sym typeface="+mn-ea"/>
              </a:rPr>
              <a:t> i</a:t>
            </a:r>
            <a:r>
              <a:rPr lang="zh-CN" altLang="en-US">
                <a:sym typeface="+mn-ea"/>
              </a:rPr>
              <a:t>，满足</a:t>
            </a:r>
            <a:r>
              <a:rPr lang="en-US" altLang="zh-CN">
                <a:sym typeface="+mn-ea"/>
              </a:rPr>
              <a:t> a[i] </a:t>
            </a:r>
            <a:r>
              <a:rPr lang="zh-CN" altLang="en-US">
                <a:sym typeface="+mn-ea"/>
              </a:rPr>
              <a:t>二进制前缀是</a:t>
            </a:r>
            <a:r>
              <a:rPr lang="en-US" altLang="zh-CN">
                <a:sym typeface="+mn-ea"/>
              </a:rPr>
              <a:t> x</a:t>
            </a:r>
            <a:endParaRPr lang="zh-CN" altLang="en-US">
              <a:sym typeface="+mn-ea"/>
            </a:endParaRPr>
          </a:p>
          <a:p>
            <a:r>
              <a:rPr lang="zh-CN" altLang="en-US"/>
              <a:t>找的过程可以用可持久化值域线段树上</a:t>
            </a:r>
            <a:r>
              <a:rPr lang="zh-CN" altLang="en-US"/>
              <a:t>二分之类的方式找，比较</a:t>
            </a:r>
            <a:r>
              <a:rPr lang="zh-CN" altLang="en-US"/>
              <a:t>平凡</a:t>
            </a:r>
            <a:endParaRPr lang="zh-CN" altLang="en-US"/>
          </a:p>
          <a:p>
            <a:r>
              <a:rPr lang="zh-CN" altLang="en-US"/>
              <a:t>这部分需要</a:t>
            </a:r>
            <a:r>
              <a:rPr lang="en-US" altLang="zh-CN"/>
              <a:t> O(nlog^2v) </a:t>
            </a:r>
            <a:r>
              <a:rPr lang="zh-CN" altLang="en-US"/>
              <a:t>的时间</a:t>
            </a:r>
            <a:r>
              <a:rPr lang="zh-CN" altLang="en-US"/>
              <a:t>复杂度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Solution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找到</a:t>
            </a:r>
            <a:r>
              <a:rPr lang="en-US" altLang="zh-CN">
                <a:sym typeface="+mn-ea"/>
              </a:rPr>
              <a:t> O(nlogv) </a:t>
            </a:r>
            <a:r>
              <a:rPr lang="zh-CN" altLang="en-US">
                <a:sym typeface="+mn-ea"/>
              </a:rPr>
              <a:t>个支配对后，按左端点和右端点构造二维平面，将支配对放到二维平面上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支配对</a:t>
            </a:r>
            <a:r>
              <a:rPr lang="en-US" altLang="zh-CN">
                <a:sym typeface="+mn-ea"/>
              </a:rPr>
              <a:t> (i,j) </a:t>
            </a:r>
            <a:r>
              <a:rPr lang="zh-CN" altLang="en-US">
                <a:sym typeface="+mn-ea"/>
              </a:rPr>
              <a:t>对所有</a:t>
            </a:r>
            <a:r>
              <a:rPr lang="en-US" altLang="zh-CN">
                <a:sym typeface="+mn-ea"/>
              </a:rPr>
              <a:t> [l,r] </a:t>
            </a:r>
            <a:r>
              <a:rPr lang="zh-CN" altLang="en-US">
                <a:sym typeface="+mn-ea"/>
              </a:rPr>
              <a:t>满足</a:t>
            </a:r>
            <a:r>
              <a:rPr lang="en-US" altLang="zh-CN">
                <a:sym typeface="+mn-ea"/>
              </a:rPr>
              <a:t> l&lt;=i,j&lt;=r </a:t>
            </a:r>
            <a:r>
              <a:rPr lang="zh-CN" altLang="en-US">
                <a:sym typeface="+mn-ea"/>
              </a:rPr>
              <a:t>都有</a:t>
            </a:r>
            <a:r>
              <a:rPr lang="zh-CN" altLang="en-US">
                <a:sym typeface="+mn-ea"/>
              </a:rPr>
              <a:t>贡献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所以支配对是一个</a:t>
            </a:r>
            <a:r>
              <a:rPr lang="en-US" altLang="zh-CN">
                <a:sym typeface="+mn-ea"/>
              </a:rPr>
              <a:t> 2-side </a:t>
            </a:r>
            <a:r>
              <a:rPr lang="zh-CN" altLang="en-US">
                <a:sym typeface="+mn-ea"/>
              </a:rPr>
              <a:t>的矩形</a:t>
            </a:r>
            <a:r>
              <a:rPr lang="en-US" altLang="zh-CN">
                <a:sym typeface="+mn-ea"/>
              </a:rPr>
              <a:t> min= </a:t>
            </a:r>
            <a:r>
              <a:rPr lang="zh-CN" altLang="en-US">
                <a:sym typeface="+mn-ea"/>
              </a:rPr>
              <a:t>修改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询问是查</a:t>
            </a:r>
            <a:r>
              <a:rPr lang="zh-CN" altLang="en-US">
                <a:sym typeface="+mn-ea"/>
              </a:rPr>
              <a:t>单点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扫描线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线段树即可</a:t>
            </a:r>
            <a:endParaRPr lang="en-US" altLang="zh-CN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总时间复杂度</a:t>
            </a:r>
            <a:r>
              <a:rPr lang="en-US" altLang="zh-CN">
                <a:sym typeface="+mn-ea"/>
              </a:rPr>
              <a:t> O(nlog</a:t>
            </a:r>
            <a:r>
              <a:rPr lang="en-US" altLang="zh-CN">
                <a:sym typeface="+mn-ea"/>
              </a:rPr>
              <a:t>v(logn+logv)+mlogn)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对复杂</a:t>
            </a:r>
            <a:r>
              <a:rPr lang="zh-CN" altLang="en-US"/>
              <a:t>维分治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一般对复杂的那一维进行</a:t>
            </a:r>
            <a:r>
              <a:rPr lang="zh-CN" altLang="en-US">
                <a:sym typeface="+mn-ea"/>
              </a:rPr>
              <a:t>分治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分治时，假设对大小</a:t>
            </a:r>
            <a:r>
              <a:rPr lang="en-US" altLang="zh-CN">
                <a:sym typeface="+mn-ea"/>
              </a:rPr>
              <a:t> n </a:t>
            </a:r>
            <a:r>
              <a:rPr lang="zh-CN" altLang="en-US">
                <a:sym typeface="+mn-ea"/>
              </a:rPr>
              <a:t>的问题进行分治，会产生</a:t>
            </a:r>
            <a:r>
              <a:rPr lang="en-US" altLang="zh-CN">
                <a:sym typeface="+mn-ea"/>
              </a:rPr>
              <a:t> O(n) </a:t>
            </a:r>
            <a:r>
              <a:rPr lang="zh-CN" altLang="en-US">
                <a:sym typeface="+mn-ea"/>
              </a:rPr>
              <a:t>对跨过分治中线的贡献，这些贡献支配了本来两边产生的</a:t>
            </a:r>
            <a:r>
              <a:rPr lang="en-US" altLang="zh-CN">
                <a:sym typeface="+mn-ea"/>
              </a:rPr>
              <a:t> Ω(n^2) </a:t>
            </a:r>
            <a:r>
              <a:rPr lang="zh-CN" altLang="en-US">
                <a:sym typeface="+mn-ea"/>
              </a:rPr>
              <a:t>对贡献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Luogu9058 [Ynoi2004] rpmtdq</a:t>
            </a:r>
            <a:br>
              <a:rPr lang="en-US" altLang="zh-CN"/>
            </a:br>
            <a:r>
              <a:rPr lang="en-US" altLang="zh-CN"/>
              <a:t>ICPC2022 </a:t>
            </a:r>
            <a:r>
              <a:rPr lang="zh-CN" altLang="en-US"/>
              <a:t>济南</a:t>
            </a:r>
            <a:r>
              <a:rPr lang="en-US" altLang="zh-CN"/>
              <a:t> L Tree </a:t>
            </a:r>
            <a:r>
              <a:rPr lang="en-US" altLang="zh-CN"/>
              <a:t>Distance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给你一棵</a:t>
            </a:r>
            <a:r>
              <a:rPr lang="en-US" altLang="zh-CN"/>
              <a:t> n </a:t>
            </a:r>
            <a:r>
              <a:rPr lang="zh-CN" altLang="en-US"/>
              <a:t>个点</a:t>
            </a:r>
            <a:r>
              <a:rPr lang="zh-CN" altLang="en-US"/>
              <a:t>的树，边权是正数，每个点有一个</a:t>
            </a:r>
            <a:r>
              <a:rPr lang="zh-CN" altLang="en-US"/>
              <a:t>编号</a:t>
            </a:r>
            <a:endParaRPr lang="zh-CN" altLang="en-US"/>
          </a:p>
          <a:p>
            <a:r>
              <a:rPr lang="zh-CN" altLang="en-US"/>
              <a:t>定义</a:t>
            </a:r>
            <a:r>
              <a:rPr lang="en-US" altLang="zh-CN"/>
              <a:t> dist(i,j) </a:t>
            </a:r>
            <a:r>
              <a:rPr lang="zh-CN" altLang="en-US"/>
              <a:t>表示编号为</a:t>
            </a:r>
            <a:r>
              <a:rPr lang="en-US" altLang="zh-CN"/>
              <a:t> i </a:t>
            </a:r>
            <a:r>
              <a:rPr lang="zh-CN" altLang="en-US"/>
              <a:t>的点和编号为</a:t>
            </a:r>
            <a:r>
              <a:rPr lang="en-US" altLang="zh-CN"/>
              <a:t> j </a:t>
            </a:r>
            <a:r>
              <a:rPr lang="zh-CN" altLang="en-US"/>
              <a:t>的点在树上的</a:t>
            </a:r>
            <a:r>
              <a:rPr lang="zh-CN" altLang="en-US"/>
              <a:t>距离</a:t>
            </a:r>
            <a:endParaRPr lang="zh-CN" altLang="en-US"/>
          </a:p>
          <a:p>
            <a:r>
              <a:rPr lang="zh-CN" altLang="en-US"/>
              <a:t>有</a:t>
            </a:r>
            <a:r>
              <a:rPr lang="en-US" altLang="zh-CN"/>
              <a:t> m </a:t>
            </a:r>
            <a:r>
              <a:rPr lang="zh-CN" altLang="en-US"/>
              <a:t>次询问，每次给一个区间</a:t>
            </a:r>
            <a:r>
              <a:rPr lang="en-US" altLang="zh-CN"/>
              <a:t> [l,r]</a:t>
            </a:r>
            <a:r>
              <a:rPr lang="zh-CN" altLang="en-US"/>
              <a:t>，求</a:t>
            </a:r>
            <a:r>
              <a:rPr lang="en-US" altLang="zh-CN"/>
              <a:t> min( dist(i,j) ) </a:t>
            </a:r>
            <a:r>
              <a:rPr lang="zh-CN" altLang="en-US"/>
              <a:t>满足</a:t>
            </a:r>
            <a:r>
              <a:rPr lang="en-US" altLang="zh-CN"/>
              <a:t> l&lt;=i&lt;j&lt;=r</a:t>
            </a:r>
            <a:endParaRPr lang="en-US" altLang="zh-CN"/>
          </a:p>
          <a:p>
            <a:r>
              <a:rPr lang="en-US" altLang="zh-CN"/>
              <a:t>n&lt;=2e5,q&lt;=1e6</a:t>
            </a:r>
            <a:endParaRPr lang="en-US" altLang="zh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341755"/>
            <a:ext cx="8394700" cy="551624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KTPOQPQJ8IAH@FTU6P@P$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322705"/>
            <a:ext cx="8286115" cy="549783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TEST_199 “</a:t>
            </a:r>
            <a:r>
              <a:rPr lang="zh-CN" altLang="en-US"/>
              <a:t>超级支配集</a:t>
            </a:r>
            <a:r>
              <a:rPr lang="en-US" altLang="zh-CN"/>
              <a:t>”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135505"/>
            <a:ext cx="10515600" cy="373062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30905" y="0"/>
            <a:ext cx="640588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27500" y="0"/>
            <a:ext cx="49669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33165" y="0"/>
            <a:ext cx="679005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KDT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矩形修改查询是</a:t>
            </a:r>
            <a:r>
              <a:rPr lang="en-US" altLang="zh-CN"/>
              <a:t> O(sqrtn) </a:t>
            </a:r>
            <a:r>
              <a:rPr lang="zh-CN" altLang="en-US"/>
              <a:t>的</a:t>
            </a:r>
            <a:endParaRPr lang="zh-CN" altLang="en-US"/>
          </a:p>
          <a:p>
            <a:r>
              <a:rPr lang="zh-CN" altLang="en-US"/>
              <a:t>奇怪的范围如果保证数据随机的话也是</a:t>
            </a:r>
            <a:r>
              <a:rPr lang="zh-CN" altLang="en-US"/>
              <a:t>对的</a:t>
            </a:r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P15871 </a:t>
            </a:r>
            <a:r>
              <a:rPr lang="zh-CN" altLang="en-US"/>
              <a:t>【</a:t>
            </a:r>
            <a:r>
              <a:rPr lang="en-US" altLang="zh-CN"/>
              <a:t>MX-X26-T7</a:t>
            </a:r>
            <a:r>
              <a:rPr lang="zh-CN" altLang="en-US"/>
              <a:t>】「</a:t>
            </a:r>
            <a:r>
              <a:rPr lang="en-US" altLang="zh-CN"/>
              <a:t>Cfz Round 7</a:t>
            </a:r>
            <a:r>
              <a:rPr lang="zh-CN" altLang="en-US"/>
              <a:t>」</a:t>
            </a:r>
            <a:r>
              <a:rPr lang="en-US" altLang="zh-CN"/>
              <a:t>**</a:t>
            </a:r>
            <a:r>
              <a:rPr lang="zh-CN" altLang="en-US"/>
              <a:t>终极</a:t>
            </a:r>
            <a:r>
              <a:rPr lang="en-US" altLang="zh-CN"/>
              <a:t> AVX2 </a:t>
            </a:r>
            <a:r>
              <a:rPr lang="zh-CN" altLang="en-US"/>
              <a:t>硬件指令提速</a:t>
            </a:r>
            <a:r>
              <a:rPr lang="en-US" altLang="zh-CN"/>
              <a:t>**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7038975" cy="1476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10" y="3429000"/>
            <a:ext cx="70485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72870" y="1825625"/>
            <a:ext cx="944562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 for </a:t>
            </a:r>
            <a:r>
              <a:rPr lang="en-US" altLang="zh-CN" dirty="0"/>
              <a:t>listening</a:t>
            </a: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清华大学 李欣</a:t>
            </a:r>
            <a:r>
              <a:rPr lang="zh-CN" altLang="en-US" dirty="0"/>
              <a:t>隆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NTIwNDJiYTdhNzQxZDA4MTgxMDc3YmZjNzFjZDAxMmYifQ=="/>
  <p:tag name="KSO_WPP_MARK_KEY" val="e3c303e0-f4f4-43f1-84be-730ffc78e97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2601</Words>
  <Application>WPS 演示</Application>
  <PresentationFormat>宽屏</PresentationFormat>
  <Paragraphs>193</Paragraphs>
  <Slides>57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Calibri</vt:lpstr>
      <vt:lpstr>Arial Unicode MS</vt:lpstr>
      <vt:lpstr>-apple-system</vt:lpstr>
      <vt:lpstr>Latha</vt:lpstr>
      <vt:lpstr>Office 主题</vt:lpstr>
      <vt:lpstr>Paint.Picture</vt:lpstr>
      <vt:lpstr>国赛数据结构内容选讲</vt:lpstr>
      <vt:lpstr>交互类题目</vt:lpstr>
      <vt:lpstr>P10786 [NOI2024] 百万富翁</vt:lpstr>
      <vt:lpstr>Solution</vt:lpstr>
      <vt:lpstr>UOJ#52. 【UR #4】元旦激光炮</vt:lpstr>
      <vt:lpstr>Solution</vt:lpstr>
      <vt:lpstr>P11111 [ROI 2023] 生产计划 (Day 2)</vt:lpstr>
      <vt:lpstr>Solution</vt:lpstr>
      <vt:lpstr>P8984 [北大集训 2021] 末日魔法少女计划 P6020 [Ynoi2010] Exponential tree</vt:lpstr>
      <vt:lpstr>P8984 [北大集训 2021] 末日魔法少女计划 P6020 [Ynoi2010] Exponential tree</vt:lpstr>
      <vt:lpstr>Solution</vt:lpstr>
      <vt:lpstr>P11398 众数</vt:lpstr>
      <vt:lpstr>Solution</vt:lpstr>
      <vt:lpstr>凸壳性质题</vt:lpstr>
      <vt:lpstr>P11587 [KTSC 2022 R2] 编程测试</vt:lpstr>
      <vt:lpstr>Solution</vt:lpstr>
      <vt:lpstr>Solution</vt:lpstr>
      <vt:lpstr>Solution</vt:lpstr>
      <vt:lpstr>P11706 「KTSC 2020 R1」穿越</vt:lpstr>
      <vt:lpstr>Solution</vt:lpstr>
      <vt:lpstr>Solution</vt:lpstr>
      <vt:lpstr>长度有上下界的区间类问题</vt:lpstr>
      <vt:lpstr>P6780 [Ynoi2009] pmrllcsrms</vt:lpstr>
      <vt:lpstr>Solution</vt:lpstr>
      <vt:lpstr>UOJ#1037. 【UR #33】略有变化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支配集类题目</vt:lpstr>
      <vt:lpstr>支配集类题目</vt:lpstr>
      <vt:lpstr>CF765F Souvenirs</vt:lpstr>
      <vt:lpstr>Solution</vt:lpstr>
      <vt:lpstr>Solution</vt:lpstr>
      <vt:lpstr>Solution</vt:lpstr>
      <vt:lpstr>CodeChef MINXORSEG</vt:lpstr>
      <vt:lpstr>Solution</vt:lpstr>
      <vt:lpstr>Solution</vt:lpstr>
      <vt:lpstr>Solution</vt:lpstr>
      <vt:lpstr>Solution</vt:lpstr>
      <vt:lpstr>对复杂维分治</vt:lpstr>
      <vt:lpstr>Luogu9058 [Ynoi2004] rpmtdq ICPC2022 济南 L Tree Distance</vt:lpstr>
      <vt:lpstr>Solution</vt:lpstr>
      <vt:lpstr>Solution</vt:lpstr>
      <vt:lpstr>TEST_199 “超级支配集”</vt:lpstr>
      <vt:lpstr>Solution</vt:lpstr>
      <vt:lpstr>Solution</vt:lpstr>
      <vt:lpstr>Solution</vt:lpstr>
      <vt:lpstr>KDT</vt:lpstr>
      <vt:lpstr>P15871 【MX-X26-T7】「Cfz Round 7」**终极 AVX2 硬件指令提速**</vt:lpstr>
      <vt:lpstr>Solution</vt:lpstr>
      <vt:lpstr>Thanks for listening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Chengze Cai</dc:creator>
  <cp:lastModifiedBy>WPS_1666774866</cp:lastModifiedBy>
  <cp:revision>79</cp:revision>
  <dcterms:created xsi:type="dcterms:W3CDTF">2023-03-06T11:30:00Z</dcterms:created>
  <dcterms:modified xsi:type="dcterms:W3CDTF">2026-05-09T15:18:55Z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4855F44795F84194841D8878EF64B824</vt:lpwstr>
  </property>
  <property fmtid="{D5CDD505-2E9C-101B-9397-08002B2CF9AE}" pid="3" name="KSOProductBuildVer">
    <vt:lpwstr>2052-12.1.0.25865</vt:lpwstr>
  </property>
</Properties>
</file>